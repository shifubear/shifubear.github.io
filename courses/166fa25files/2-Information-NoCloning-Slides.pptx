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81" r:id="rId25"/>
    <p:sldId id="282" r:id="rId26"/>
    <p:sldId id="279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4"/>
    <p:restoredTop sz="94619"/>
  </p:normalViewPr>
  <p:slideViewPr>
    <p:cSldViewPr snapToGrid="0">
      <p:cViewPr varScale="1">
        <p:scale>
          <a:sx n="67" d="100"/>
          <a:sy n="67" d="100"/>
        </p:scale>
        <p:origin x="20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ED5C55-EB3F-94E0-BC90-9472A7762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60302D7-DEDB-ED61-F139-6E8CCB1FF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D6DF96-6A65-D7E5-E13D-4C1456095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38E8-9841-FC41-88F0-D977B529CD08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CBC553-998B-99F1-D7F3-C19E5EDCA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914B5A-C601-19CA-BE53-D9FB8940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565F-60A3-A845-BD73-B2C58D73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55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121BCF-8E84-E41D-5A1F-6BD11F4A2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2E7117-CAB5-1FB4-F6C9-A051492B3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F2C48C-EA44-8022-66F6-75FE16782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38E8-9841-FC41-88F0-D977B529CD08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22BFFF-5E41-D961-65A5-96567CBD1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DB0D38-7BD6-4BFA-82D1-832362F6F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565F-60A3-A845-BD73-B2C58D73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18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FD6540-CE27-1481-012B-7181510F0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483BB5-3EF9-4ADC-C0DB-5BD5A2146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57C4CE-47A4-FC4B-26F2-6B2F30CA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38E8-9841-FC41-88F0-D977B529CD08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64EE79-464A-18BF-5CC5-7E3C0DE0B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5AA805-34A2-DEB7-7746-095AB1655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565F-60A3-A845-BD73-B2C58D73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8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F7412F-440E-7959-B6E3-90D0B0138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73E16D-2967-C411-C395-F059C89352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11ABA5-36FC-A064-7C09-3865FE0E6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37D546-463D-71DA-691A-A9E3176D7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38E8-9841-FC41-88F0-D977B529CD08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B480A0-36C5-ECA9-006F-41B1719DF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76BEB7C-B5BA-D275-CE5B-28EE64D09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565F-60A3-A845-BD73-B2C58D73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55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B3BA45-6799-080B-2469-6BA79BFC5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4107F90-F1B9-E401-B99A-29E07876E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A6E22BD-0D38-BD1E-8F2D-71980315E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9821D1F-CE62-F728-7128-EAE09A75EA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DE9C6A0-6020-1677-2EBB-AFC8F59AB0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CA46B14-1F03-E37F-EACB-470A87050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38E8-9841-FC41-88F0-D977B529CD08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74F7D71-DAD2-842A-8992-DB6C6ADC2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70E54B3-C6A9-43C6-4C62-540FC5C79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565F-60A3-A845-BD73-B2C58D73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34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A3F7D9-824D-EAFA-E92A-0437DC524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E720C40-A8E4-65B6-03DF-7EAD1DFD0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38E8-9841-FC41-88F0-D977B529CD08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CD27319-8361-29B5-5D21-C447C5F91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65CEA4F-7246-6BDC-6B21-14D87CD2C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565F-60A3-A845-BD73-B2C58D73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68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C84831B-4D4E-C651-8863-6DA431356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38E8-9841-FC41-88F0-D977B529CD08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B550284-0426-DCF7-4697-C0C488E23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1D09812-D51D-EC92-DC03-67702EA15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565F-60A3-A845-BD73-B2C58D73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97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9698CC-A127-C120-A6AC-F4F4602D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59F86B-CC78-1653-49E3-6AE1CD200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A729640-00EC-EBF8-2BE9-16DCAB4C1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2FA042C-16AC-F292-95D8-CC83EBDB0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38E8-9841-FC41-88F0-D977B529CD08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01FBBC-9C39-F2EF-B125-B79347D18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FF5D38-A6FF-37F8-0816-13DB3DD05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565F-60A3-A845-BD73-B2C58D73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754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D88939-CF05-DB19-54C4-ACABA7BA8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EFBE8CC-9D36-30CB-3241-EDDB835AB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942679A-62E1-027A-8627-024DB4DAA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7CFE6B8-4A45-D795-1F25-F2D69FA23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38E8-9841-FC41-88F0-D977B529CD08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497E57F-D0F1-A64B-6EA5-E4D580494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2135F04-2A0C-5DD9-BE5F-94310D430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565F-60A3-A845-BD73-B2C58D73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65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8E46F9-AA20-D0DE-8ECE-C20123F2F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D1F39FA-01FA-1021-E88A-68616498E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C728AB-EE18-9E68-D95C-647329F4D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38E8-9841-FC41-88F0-D977B529CD08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302D3E-AAEF-AB8E-0957-D8139DD51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1EDEBA-83D4-CA0B-7261-352250A16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565F-60A3-A845-BD73-B2C58D73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75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FA023CE-DB23-DF11-48FE-F8B9241B46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AC08249-B150-C7A9-7768-9CA56B8C9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F33A26-1ED5-E029-4A7D-DBD9EEEDC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38E8-9841-FC41-88F0-D977B529CD08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569713-EBB1-6445-9B7A-5CD326D2F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327832-2632-0DF2-9318-54DE65BD2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565F-60A3-A845-BD73-B2C58D73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08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C013B52-74FB-ACF2-2C06-DFAE4FA8D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64E05FA-EE61-BAD3-5D94-1AD159564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6A257F-CAA7-0F33-85B3-F0BAADB595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3038E8-9841-FC41-88F0-D977B529CD08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60543B-507C-447A-92F5-2A6D827753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18A6DE-1F69-0B50-A7F5-E9ACD8A74F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89565F-60A3-A845-BD73-B2C58D736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93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6.png"/><Relationship Id="rId7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DC554F-C6E1-FCC1-943F-3F2148196B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Quantum Information I:</a:t>
            </a:r>
            <a:br>
              <a:rPr lang="en-US" dirty="0">
                <a:latin typeface="Avenir Next" panose="020B0503020202020204" pitchFamily="34" charset="0"/>
              </a:rPr>
            </a:br>
            <a:r>
              <a:rPr lang="en-US" dirty="0">
                <a:latin typeface="Avenir Next" panose="020B0503020202020204" pitchFamily="34" charset="0"/>
              </a:rPr>
              <a:t>No-Cloning Theorem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B53CF79-8B8F-4F57-8CF2-22AC70B3C8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CS166 FA2025: Week 4</a:t>
            </a:r>
          </a:p>
        </p:txBody>
      </p:sp>
    </p:spTree>
    <p:extLst>
      <p:ext uri="{BB962C8B-B14F-4D97-AF65-F5344CB8AC3E}">
        <p14:creationId xmlns:p14="http://schemas.microsoft.com/office/powerpoint/2010/main" val="2618710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31C0BB-0792-75F7-41CB-7B2256FEA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Ctrl + C, Ctrl + V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672CAC-9DA7-E8A1-0C9A-ECEBA30E9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We take copying information for granted and use it all the time.</a:t>
            </a:r>
          </a:p>
          <a:p>
            <a:r>
              <a:rPr lang="en-US" dirty="0">
                <a:latin typeface="Avenir Next" panose="020B0503020202020204" pitchFamily="34" charset="0"/>
              </a:rPr>
              <a:t>Is it possible to do the same for quantum information?</a:t>
            </a:r>
          </a:p>
        </p:txBody>
      </p:sp>
    </p:spTree>
    <p:extLst>
      <p:ext uri="{BB962C8B-B14F-4D97-AF65-F5344CB8AC3E}">
        <p14:creationId xmlns:p14="http://schemas.microsoft.com/office/powerpoint/2010/main" val="1554021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02CAC-BEE7-3C7C-A02F-CF7EC322A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7EFF3A-9D86-0AC5-FBFE-D35834F99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Cloning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9A169AC3-1AE7-AD6F-C9C8-596FB9C105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ja-JP" dirty="0">
                    <a:latin typeface="Avenir Next" panose="020B0503020202020204" pitchFamily="34" charset="0"/>
                  </a:rPr>
                  <a:t>Can we create a universal cloner that can clone </a:t>
                </a:r>
                <a:r>
                  <a:rPr lang="en-US" altLang="ja-JP" b="1" dirty="0">
                    <a:latin typeface="Avenir Next" panose="020B0503020202020204" pitchFamily="34" charset="0"/>
                  </a:rPr>
                  <a:t>any</a:t>
                </a:r>
                <a:r>
                  <a:rPr lang="en-US" altLang="ja-JP" dirty="0">
                    <a:latin typeface="Avenir Next" panose="020B0503020202020204" pitchFamily="34" charset="0"/>
                  </a:rPr>
                  <a:t> quantum state?</a:t>
                </a:r>
                <a:endParaRPr lang="en-US" dirty="0">
                  <a:latin typeface="Avenir Next" panose="020B0503020202020204" pitchFamily="34" charset="0"/>
                </a:endParaRPr>
              </a:p>
              <a:p>
                <a:r>
                  <a:rPr lang="en-US" dirty="0">
                    <a:latin typeface="Avenir Next" panose="020B0503020202020204" pitchFamily="34" charset="0"/>
                  </a:rPr>
                  <a:t>That is, given a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 dirty="0">
                    <a:latin typeface="Avenir Next" panose="020B0503020202020204" pitchFamily="34" charset="0"/>
                  </a:rPr>
                  <a:t>, we want a unitary such that </a:t>
                </a:r>
              </a:p>
              <a:p>
                <a:pPr marL="0" indent="0" algn="ctr">
                  <a:buNone/>
                </a:pPr>
                <a:r>
                  <a:rPr lang="en-US" dirty="0">
                    <a:latin typeface="Avenir Next" panose="020B0503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⟩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|0⟩)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>
                  <a:latin typeface="Avenir Next" panose="020B0503020202020204" pitchFamily="34" charset="0"/>
                </a:endParaRPr>
              </a:p>
              <a:p>
                <a:r>
                  <a:rPr lang="en-US" dirty="0">
                    <a:latin typeface="Avenir Next" panose="020B0503020202020204" pitchFamily="34" charset="0"/>
                  </a:rPr>
                  <a:t>This is </a:t>
                </a:r>
                <a:r>
                  <a:rPr lang="en-US" b="1" dirty="0">
                    <a:latin typeface="Avenir Next" panose="020B0503020202020204" pitchFamily="34" charset="0"/>
                  </a:rPr>
                  <a:t>not the same</a:t>
                </a:r>
                <a:r>
                  <a:rPr lang="en-US" dirty="0">
                    <a:latin typeface="Avenir Next" panose="020B0503020202020204" pitchFamily="34" charset="0"/>
                  </a:rPr>
                  <a:t> as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endChr m:val="⟩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|11⟩</m:t>
                      </m:r>
                    </m:oMath>
                  </m:oMathPara>
                </a14:m>
                <a:endParaRPr lang="en-US" dirty="0">
                  <a:latin typeface="Avenir Next" panose="020B0503020202020204" pitchFamily="34" charset="0"/>
                </a:endParaRP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9A169AC3-1AE7-AD6F-C9C8-596FB9C105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7741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BBFC8-DC48-D648-321A-18FFC7255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1A83C3-B80D-9D4B-2EE1-E54944C5E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Question 56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0464D6E2-0A97-D36C-518B-7C5C833BC5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ja-JP" dirty="0">
                    <a:latin typeface="Avenir Next" panose="020B0503020202020204" pitchFamily="34" charset="0"/>
                  </a:rPr>
                  <a:t>Consider the following two states</a:t>
                </a:r>
                <a:endParaRPr lang="en-US" dirty="0">
                  <a:latin typeface="Avenir Next" panose="020B050302020202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endChr m:val="⟩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⊗</m:t>
                    </m:r>
                    <m:d>
                      <m:dPr>
                        <m:endChr m:val="⟩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Avenir Next" panose="020B0503020202020204" pitchFamily="34" charset="0"/>
                </a:endParaRPr>
              </a:p>
              <a:p>
                <a:r>
                  <a:rPr lang="en-US" dirty="0">
                    <a:latin typeface="Avenir Next" panose="020B0503020202020204" pitchFamily="34" charset="0"/>
                  </a:rPr>
                  <a:t>Suppose we measure </a:t>
                </a:r>
                <a:r>
                  <a:rPr lang="en-US" b="1" dirty="0">
                    <a:latin typeface="Avenir Next" panose="020B0503020202020204" pitchFamily="34" charset="0"/>
                  </a:rPr>
                  <a:t>Alice’s qubit </a:t>
                </a:r>
                <a:r>
                  <a:rPr lang="en-US" dirty="0">
                    <a:latin typeface="Avenir Next" panose="020B0503020202020204" pitchFamily="34" charset="0"/>
                  </a:rPr>
                  <a:t>for each of the above two states. What is the probability of measuring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 dirty="0">
                    <a:latin typeface="Avenir Next" panose="020B0503020202020204" pitchFamily="34" charset="0"/>
                  </a:rPr>
                  <a:t> for each state?</a:t>
                </a:r>
              </a:p>
              <a:p>
                <a:pPr marL="0" indent="0">
                  <a:buNone/>
                </a:pPr>
                <a:endParaRPr lang="en-US" dirty="0">
                  <a:latin typeface="Avenir Next" panose="020B0503020202020204" pitchFamily="34" charset="0"/>
                </a:endParaRP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0464D6E2-0A97-D36C-518B-7C5C833BC5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9555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7CECA-CD98-0B98-02C8-FC8802031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F077AB-F56F-82C2-2A4E-1B9C96907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Question 56: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9F35EA39-F81A-B2E3-52C4-2EDEFB89DB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altLang="ja-JP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r>
                  <a:rPr lang="en-US" altLang="ja-JP" b="0" dirty="0">
                    <a:latin typeface="Cambria Math" panose="02040503050406030204" pitchFamily="18" charset="0"/>
                  </a:rPr>
                  <a:t>Only one term where Alice’s qubit is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|00⟩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 with amplitude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.</a:t>
                </a:r>
              </a:p>
              <a:p>
                <a:r>
                  <a:rPr lang="en-US" altLang="ja-JP" dirty="0">
                    <a:latin typeface="Cambria Math" panose="02040503050406030204" pitchFamily="18" charset="0"/>
                  </a:rPr>
                  <a:t>Probability of seeing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ja-JP" b="0" dirty="0">
                  <a:latin typeface="Cambria Math" panose="02040503050406030204" pitchFamily="18" charset="0"/>
                </a:endParaRPr>
              </a:p>
              <a:p>
                <a:r>
                  <a:rPr lang="en-US" altLang="ja-JP" dirty="0">
                    <a:latin typeface="Cambria Math" panose="02040503050406030204" pitchFamily="18" charset="0"/>
                  </a:rPr>
                  <a:t>State after is 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 since there is only one term. </a:t>
                </a:r>
              </a:p>
              <a:p>
                <a:pPr marL="0" indent="0">
                  <a:buNone/>
                </a:pPr>
                <a:endParaRPr lang="en-US" dirty="0">
                  <a:latin typeface="Avenir Next" panose="020B0503020202020204" pitchFamily="34" charset="0"/>
                </a:endParaRP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9F35EA39-F81A-B2E3-52C4-2EDEFB89DB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942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42323-2C0B-4834-3A92-124DD85DF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03D8C1-BF0A-7019-62C9-AB06F8848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Question 56: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A4217EF6-DAD8-DA83-69FB-8F00666DC7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endChr m:val="⟩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)⊗</m:t>
                    </m:r>
                    <m:d>
                      <m:dPr>
                        <m:endChr m:val="⟩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ja-JP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|00⟩+</m:t>
                      </m:r>
                      <m:r>
                        <a:rPr lang="en-US" altLang="ja-JP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𝛼𝛽</m:t>
                      </m:r>
                      <m:r>
                        <a:rPr lang="en-US" altLang="ja-JP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|01⟩+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𝛼𝛽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|10⟩+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|11⟩</m:t>
                      </m:r>
                    </m:oMath>
                  </m:oMathPara>
                </a14:m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r>
                  <a:rPr lang="en-US" altLang="ja-JP" b="0" dirty="0">
                    <a:latin typeface="Cambria Math" panose="02040503050406030204" pitchFamily="18" charset="0"/>
                  </a:rPr>
                  <a:t>Two terms where Alice’s qubit is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|00⟩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 with amplitude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|01⟩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 with amplitude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.</a:t>
                </a:r>
              </a:p>
              <a:p>
                <a:r>
                  <a:rPr lang="en-US" altLang="ja-JP" dirty="0">
                    <a:latin typeface="Cambria Math" panose="02040503050406030204" pitchFamily="18" charset="0"/>
                  </a:rPr>
                  <a:t>Probability of seeing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p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𝛼𝛽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ja-JP" b="0" dirty="0">
                  <a:latin typeface="Cambria Math" panose="02040503050406030204" pitchFamily="18" charset="0"/>
                </a:endParaRPr>
              </a:p>
              <a:p>
                <a:r>
                  <a:rPr lang="en-US" altLang="ja-JP" dirty="0">
                    <a:latin typeface="Cambria Math" panose="02040503050406030204" pitchFamily="18" charset="0"/>
                  </a:rPr>
                  <a:t>State after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|"/>
                        <m:endChr m:val="⟩"/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𝛼𝛽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|01⟩)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𝛼𝛽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dirty="0">
                    <a:latin typeface="Avenir Next" panose="020B0503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A4217EF6-DAD8-DA83-69FB-8F00666DC7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3211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186A6-8D86-C4FE-9FDD-7B1167635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FAB157-F21B-E6A1-3FFF-B0020E082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Question 56: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045BB08A-8108-6250-79F4-AE0114B9B8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ja-JP" dirty="0">
                    <a:latin typeface="Cambria Math" panose="020405030504060302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, p</a:t>
                </a:r>
                <a:r>
                  <a:rPr lang="en-US" altLang="ja-JP" dirty="0">
                    <a:latin typeface="Cambria Math" panose="02040503050406030204" pitchFamily="18" charset="0"/>
                  </a:rPr>
                  <a:t>robability of seeing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ja-JP" dirty="0">
                  <a:latin typeface="Cambria Math" panose="02040503050406030204" pitchFamily="18" charset="0"/>
                </a:endParaRPr>
              </a:p>
              <a:p>
                <a:r>
                  <a:rPr lang="en-US" altLang="ja-JP" dirty="0">
                    <a:latin typeface="Cambria Math" panose="020405030504060302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, </a:t>
                </a:r>
                <a:r>
                  <a:rPr lang="en-US" altLang="ja-JP" dirty="0">
                    <a:latin typeface="Cambria Math" panose="02040503050406030204" pitchFamily="18" charset="0"/>
                  </a:rPr>
                  <a:t>probability of seeing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p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𝛼𝛽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ja-JP" b="0" dirty="0">
                  <a:latin typeface="Cambria Math" panose="02040503050406030204" pitchFamily="18" charset="0"/>
                </a:endParaRPr>
              </a:p>
              <a:p>
                <a:r>
                  <a:rPr lang="en-US" altLang="ja-JP" dirty="0">
                    <a:latin typeface="Cambria Math" panose="02040503050406030204" pitchFamily="18" charset="0"/>
                  </a:rPr>
                  <a:t>The only way we know what a state is by its measurement outcomes and distribution. </a:t>
                </a:r>
              </a:p>
              <a:p>
                <a:r>
                  <a:rPr lang="en-US" altLang="ja-JP" b="0" dirty="0">
                    <a:latin typeface="Cambria Math" panose="02040503050406030204" pitchFamily="18" charset="0"/>
                  </a:rPr>
                  <a:t>If probabiliti</a:t>
                </a:r>
                <a:r>
                  <a:rPr lang="en-US" altLang="ja-JP" dirty="0">
                    <a:latin typeface="Cambria Math" panose="02040503050406030204" pitchFamily="18" charset="0"/>
                  </a:rPr>
                  <a:t>es are different, they are two different states! These two are very different states.</a:t>
                </a:r>
              </a:p>
              <a:p>
                <a:r>
                  <a:rPr lang="en-US" altLang="ja-JP" b="0" dirty="0">
                    <a:latin typeface="Cambria Math" panose="02040503050406030204" pitchFamily="18" charset="0"/>
                  </a:rPr>
                  <a:t>Remember, our goal for cloning is to make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altLang="ja-JP" b="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045BB08A-8108-6250-79F4-AE0114B9B8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9610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F9032-1EBB-F6F8-0035-7F5E348C2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0B3569-3DB6-F550-0206-78B46214B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No Cloning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4A38A97-4506-8D77-8007-D2BE9C6AC4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ja-JP" b="0" dirty="0">
                    <a:latin typeface="Cambria Math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 be a state on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 qubits. There is no unitary operator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 such that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(|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⟩|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⟩)=|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⟩|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altLang="ja-JP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ja-JP" dirty="0">
                    <a:latin typeface="Cambria Math" panose="02040503050406030204" pitchFamily="18" charset="0"/>
                  </a:rPr>
                  <a:t>	for any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4A38A97-4506-8D77-8007-D2BE9C6AC4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2649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8949C-FE9E-71F9-E760-920924142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A4AFD7-7771-3164-57BE-35D497C61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Inner Products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D4AD31-49BB-BFD0-6F9E-3EEBCEC6F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0" dirty="0">
                <a:latin typeface="Cambria Math" panose="02040503050406030204" pitchFamily="18" charset="0"/>
              </a:rPr>
              <a:t>Remember, the inner product tells us the “similarity” of two vectors. 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4C692F1B-1F65-2E4A-C7DE-CBFAD67B202A}"/>
              </a:ext>
            </a:extLst>
          </p:cNvPr>
          <p:cNvCxnSpPr>
            <a:cxnSpLocks/>
          </p:cNvCxnSpPr>
          <p:nvPr/>
        </p:nvCxnSpPr>
        <p:spPr>
          <a:xfrm flipH="1" flipV="1">
            <a:off x="1619794" y="3958046"/>
            <a:ext cx="457200" cy="1188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4AA411E6-4569-839A-8A07-DD61AC92632F}"/>
              </a:ext>
            </a:extLst>
          </p:cNvPr>
          <p:cNvCxnSpPr>
            <a:cxnSpLocks/>
          </p:cNvCxnSpPr>
          <p:nvPr/>
        </p:nvCxnSpPr>
        <p:spPr>
          <a:xfrm flipV="1">
            <a:off x="2076994" y="4728754"/>
            <a:ext cx="1214846" cy="4180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2A3204F-29AA-1050-F5F1-7A8F5A8888CA}"/>
              </a:ext>
            </a:extLst>
          </p:cNvPr>
          <p:cNvSpPr txBox="1"/>
          <p:nvPr/>
        </p:nvSpPr>
        <p:spPr>
          <a:xfrm>
            <a:off x="838200" y="5455809"/>
            <a:ext cx="3513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Orthogonal: &lt;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v|w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&gt; = 0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90BF973E-6389-1F86-2146-1AC95EBAEA25}"/>
              </a:ext>
            </a:extLst>
          </p:cNvPr>
          <p:cNvCxnSpPr>
            <a:cxnSpLocks/>
          </p:cNvCxnSpPr>
          <p:nvPr/>
        </p:nvCxnSpPr>
        <p:spPr>
          <a:xfrm flipV="1">
            <a:off x="8297091" y="4728754"/>
            <a:ext cx="1186543" cy="4180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CB740E0F-71E1-5488-E8D4-B5DAD028AD66}"/>
              </a:ext>
            </a:extLst>
          </p:cNvPr>
          <p:cNvCxnSpPr>
            <a:cxnSpLocks/>
          </p:cNvCxnSpPr>
          <p:nvPr/>
        </p:nvCxnSpPr>
        <p:spPr>
          <a:xfrm flipV="1">
            <a:off x="8297091" y="4728754"/>
            <a:ext cx="1214846" cy="4180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3F8F789-BB0B-8C0F-7533-87C8C81F5841}"/>
              </a:ext>
            </a:extLst>
          </p:cNvPr>
          <p:cNvSpPr txBox="1"/>
          <p:nvPr/>
        </p:nvSpPr>
        <p:spPr>
          <a:xfrm>
            <a:off x="7058297" y="5455809"/>
            <a:ext cx="3862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Same direction: &lt;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v|w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&gt; = 1</a:t>
            </a:r>
          </a:p>
        </p:txBody>
      </p:sp>
    </p:spTree>
    <p:extLst>
      <p:ext uri="{BB962C8B-B14F-4D97-AF65-F5344CB8AC3E}">
        <p14:creationId xmlns:p14="http://schemas.microsoft.com/office/powerpoint/2010/main" val="2742177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F9618-E47F-AF7B-530C-8F9193BC1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5D06CD-B827-A298-16C9-34BAE9689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Question 57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3B795300-3FF0-EF92-C77A-7CA0F53529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ja-JP" dirty="0">
                    <a:latin typeface="Cambria Math" panose="02040503050406030204" pitchFamily="18" charset="0"/>
                  </a:rPr>
                  <a:t>Consider two quantum states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. Suppose we apply some unitary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 to each of these states to get vectors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. What happens to the “overlap” between the two states? </a:t>
                </a:r>
              </a:p>
              <a:p>
                <a:pPr marL="0" indent="0">
                  <a:buNone/>
                </a:pPr>
                <a:endParaRPr lang="en-US" altLang="ja-JP" b="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3B795300-3FF0-EF92-C77A-7CA0F53529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8850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3AE80-7709-1960-8596-E0FFF25FC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B5628F-C309-DF4D-5FBA-DCA98904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Question 57: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8603B4C-03F8-2E41-C640-2379A017A2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Initial overlap: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⟨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endParaRPr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Need to compute inner product between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 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†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endChr m:val="⟩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†</m:t>
                                </m:r>
                              </m:sup>
                            </m:s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</m:d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=⟨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endParaRPr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ja-JP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angle between the two vectors does not change!</a:t>
                </a:r>
              </a:p>
              <a:p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Key takeaway: The angle between two quantum states does not change if you apply the same unitary to each one. </a:t>
                </a:r>
              </a:p>
              <a:p>
                <a:pPr marL="0" indent="0">
                  <a:buNone/>
                </a:pPr>
                <a:endParaRPr lang="en-US" altLang="ja-JP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8603B4C-03F8-2E41-C640-2379A017A2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798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5A0C2-8979-41ED-615F-2BDDA7218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FC9734-8FAB-9C7E-1E23-CFC496DFB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Inner Product Trick (Product States)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78D338B-7553-6826-D453-395B768473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Suppose we have two </a:t>
                </a:r>
                <a:r>
                  <a:rPr lang="en-US" altLang="ja-JP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separable states</a:t>
                </a:r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⊗|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endParaRPr lang="en-US" altLang="ja-JP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⊗|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endParaRPr lang="en-US" altLang="ja-JP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Then, we can compute the inner product as follows: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⟨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⟩=(</m:t>
                      </m:r>
                      <m:d>
                        <m:dPr>
                          <m:begChr m:val="⟨"/>
                          <m:endChr m:val="|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⊗</m:t>
                      </m:r>
                      <m:d>
                        <m:dPr>
                          <m:begChr m:val="⟨"/>
                          <m:endChr m:val="|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)(|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⊗|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⟩)=⟨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⟩⟨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altLang="ja-JP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78D338B-7553-6826-D453-395B768473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2121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E57D7-4032-DD73-4613-9E506694A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416B37-B740-12E3-1D73-5A85209AD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Question 58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22383D8-D0C9-4801-C3D1-233C59757B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 sake of contradiction, s</a:t>
                </a:r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uppose that there did exist a unitary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that can clone any quantum state. Then, we can start with two states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|0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|0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apply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 each, and end up with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What is the overlap between the states before and after applying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? </a:t>
                </a: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22383D8-D0C9-4801-C3D1-233C59757B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5686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3C621-9D52-064F-0F83-0CCD6FED3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8CD65A-BF2E-88F6-8E3E-326B576EB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Question 58: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CDA81F8-9DE9-3A69-87A6-A2C97B7DCB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Inner product (overlap) before applying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(⟨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|⟨0|)(|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|0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ja-JP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⟨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⟩⟨0|0⟩</m:t>
                    </m:r>
                    <m:r>
                      <a:rPr lang="en-US" altLang="ja-JP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⟨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endParaRPr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Inner product after applying </a:t>
                </a:r>
                <a14:m>
                  <m:oMath xmlns:m="http://schemas.openxmlformats.org/officeDocument/2006/math"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(⟨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|⟨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|)(|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⟩|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ja-JP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⟨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⟩⟨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  <m:r>
                      <a:rPr lang="en-US" altLang="ja-JP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  <m:sup>
                        <m:r>
                          <a:rPr lang="en-US" altLang="ja-JP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Not equal! </a:t>
                </a:r>
              </a:p>
              <a:p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This is a contradiction because </a:t>
                </a:r>
                <a:r>
                  <a:rPr lang="en-US" altLang="ja-JP" b="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unitaries</a:t>
                </a:r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must preserve the relative angles between the states. </a:t>
                </a: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CDA81F8-9DE9-3A69-87A6-A2C97B7DCB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399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C24C5-6EE1-E4DE-B95E-90B5FF9C8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64126D-CCAA-37BC-C4EB-44DE03F81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Question 59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FB85B3-8C2D-1042-33A8-70D159A39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dirty="0">
                <a:latin typeface="Cambria Math" panose="02040503050406030204" pitchFamily="18" charset="0"/>
                <a:ea typeface="Cambria Math" panose="02040503050406030204" pitchFamily="18" charset="0"/>
              </a:rPr>
              <a:t>Based on the previous problem, are there states that we can clone? </a:t>
            </a:r>
          </a:p>
          <a:p>
            <a:pPr marL="0" indent="0">
              <a:buNone/>
            </a:pPr>
            <a:endParaRPr lang="en-US" altLang="ja-JP" b="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300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AC830-42B8-82E3-B045-CD4E8767C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17A8DD-736C-F6DF-10FE-4546F6C3C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Question 59: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1BE3D31D-9E11-95AF-489F-8A73DEC5DA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Based on the previous problem, are there states that we can clone? </a:t>
                </a:r>
              </a:p>
              <a:p>
                <a14:m>
                  <m:oMath xmlns:m="http://schemas.openxmlformats.org/officeDocument/2006/math"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⟨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vs.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  <m:sup>
                        <m:r>
                          <a:rPr lang="en-US" altLang="ja-JP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the same or orthogonal, we can build a cloner.</a:t>
                </a:r>
              </a:p>
              <a:p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Same or orthogonal… orthonormal basis!</a:t>
                </a:r>
              </a:p>
              <a:p>
                <a:endParaRPr lang="en-US" altLang="ja-JP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1BE3D31D-9E11-95AF-489F-8A73DEC5DA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5734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74A43-04F7-96AC-2B14-D7F20C077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D59DA6-6C0F-7597-61F6-AE2B29088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Question 59: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DDC34D34-79DD-F72E-34AC-654EA793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Based on the previous problem, are there states that we can clone? </a:t>
                </a:r>
              </a:p>
              <a:p>
                <a14:m>
                  <m:oMath xmlns:m="http://schemas.openxmlformats.org/officeDocument/2006/math"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⟨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vs.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  <m:sup>
                        <m:r>
                          <a:rPr lang="en-US" altLang="ja-JP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vectors in an orthonormal basis, we can build a cloner.</a:t>
                </a:r>
                <a:endParaRPr lang="en-US" altLang="ja-JP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DDC34D34-79DD-F72E-34AC-654EA793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8487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E841D-F1EF-3A49-D600-77A90F5F4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052CD6-95D1-3281-46BA-78FA29135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Question 60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68D1E96-F71C-3969-8B1F-976F81C58F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Find a unitary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that “clones” single qubit standard basis states. That is, an operator such that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(|0⟩|0⟩)=|0⟩|0⟩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(|1⟩|0⟩)=|1⟩|1⟩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68D1E96-F71C-3969-8B1F-976F81C58F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6876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BB24A-32D7-C791-FF94-7AECC7937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D0A463-32DE-3ABE-F124-FDE21B766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Question 60: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8B4625E-AECE-3BF1-3DD2-65B2F43386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Find a unitary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that “clones” single qubit standard basis states. That is, an operator such that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(|0⟩|0⟩)=|0⟩|0⟩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(|1⟩|0⟩)=|1⟩|1⟩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endParaRPr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CNOT gate! We can think of the CNOT gate as a “cloner” for standard basis states. </a:t>
                </a:r>
                <a:endParaRPr lang="en-US" altLang="ja-JP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8B4625E-AECE-3BF1-3DD2-65B2F43386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1519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52810-210D-AE7F-AC09-931433BD7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C837AB-9A60-EC7D-8363-CF0A99BB5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Question 61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A00059-0EF3-DD05-72DC-06BDB1DFF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dirty="0">
                <a:latin typeface="Cambria Math" panose="02040503050406030204" pitchFamily="18" charset="0"/>
                <a:ea typeface="Cambria Math" panose="02040503050406030204" pitchFamily="18" charset="0"/>
              </a:rPr>
              <a:t>Does the CNOT gate clone a Hadamard basis state? </a:t>
            </a:r>
          </a:p>
        </p:txBody>
      </p:sp>
    </p:spTree>
    <p:extLst>
      <p:ext uri="{BB962C8B-B14F-4D97-AF65-F5344CB8AC3E}">
        <p14:creationId xmlns:p14="http://schemas.microsoft.com/office/powerpoint/2010/main" val="4163203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BC7D4-E77D-B37E-EFC6-0995960FC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CEB15E-97EC-1984-E194-077028AFA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Question 61: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47FDBD2-A05A-B8F1-DC4D-5166E4D87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No! It does not clone Hadamard basis states.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𝐶𝑁𝑂𝑇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(|+⟩|0⟩)=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𝐶𝑁𝑂𝑇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e>
                      </m:d>
                    </m:oMath>
                  </m:oMathPara>
                </a14:m>
                <a:endParaRPr lang="en-US" altLang="ja-JP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47FDBD2-A05A-B8F1-DC4D-5166E4D87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1667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51570-F6ED-B8A5-AA50-4477C6ED9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83D8EB-B03F-5A5C-762A-81C9ED22D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Question 62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F1DFB12-CEA1-7ECD-5C04-EC40891432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Find a unitary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that “clones” single qubit Hadamard basis states. That is, an operator such that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(|+⟩|0⟩)=|+⟩|+⟩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(|−⟩|0⟩)=|−⟩|−⟩</m:t>
                    </m:r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F1DFB12-CEA1-7ECD-5C04-EC40891432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797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6F3B2-DD40-527F-B929-8A944896A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FF018E-B7AE-BD31-2A9E-0FC02F281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Question 62: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58BC0AA-D2CC-A47D-AEC4-B3A31A76F0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Generic ”trick” when building cloner for orthonormal basis </a:t>
                </a:r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⟩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 </a:t>
                </a:r>
              </a:p>
              <a:p>
                <a:pPr marL="514350" indent="-514350">
                  <a:buAutoNum type="arabicPeriod"/>
                </a:pPr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Find a circuit C that converts from basis B to the standard basis.</a:t>
                </a:r>
              </a:p>
              <a:p>
                <a:pPr marL="514350" indent="-514350">
                  <a:buAutoNum type="arabicPeriod"/>
                </a:pPr>
                <a:r>
                  <a:rPr lang="en-US" altLang="ja-JP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Clone in the standard basis.</a:t>
                </a:r>
              </a:p>
              <a:p>
                <a:pPr marL="514350" indent="-514350">
                  <a:buAutoNum type="arabicPeriod"/>
                </a:pPr>
                <a:r>
                  <a:rPr lang="en-US" altLang="ja-JP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Apply the “undo circuit” of C to go from the standard basis to basis B.</a:t>
                </a: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58BC0AA-D2CC-A47D-AEC4-B3A31A76F0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E9F78C42-CDC0-D90F-63B6-E8CDA2E32249}"/>
              </a:ext>
            </a:extLst>
          </p:cNvPr>
          <p:cNvCxnSpPr/>
          <p:nvPr/>
        </p:nvCxnSpPr>
        <p:spPr>
          <a:xfrm>
            <a:off x="2769325" y="5068741"/>
            <a:ext cx="66359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00576AF0-678B-3F2B-DEEA-C0FF20E37A91}"/>
              </a:ext>
            </a:extLst>
          </p:cNvPr>
          <p:cNvCxnSpPr/>
          <p:nvPr/>
        </p:nvCxnSpPr>
        <p:spPr>
          <a:xfrm>
            <a:off x="2778033" y="6096353"/>
            <a:ext cx="66359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504EC98-DA15-2A56-79FE-66A349B843A7}"/>
                  </a:ext>
                </a:extLst>
              </p:cNvPr>
              <p:cNvSpPr txBox="1"/>
              <p:nvPr/>
            </p:nvSpPr>
            <p:spPr>
              <a:xfrm>
                <a:off x="1900645" y="4807131"/>
                <a:ext cx="11430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504EC98-DA15-2A56-79FE-66A349B84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645" y="4807131"/>
                <a:ext cx="1143001" cy="523220"/>
              </a:xfrm>
              <a:prstGeom prst="rect">
                <a:avLst/>
              </a:prstGeom>
              <a:blipFill>
                <a:blip r:embed="rId3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656E285E-E71D-3E74-727B-2EF3C5923D0C}"/>
                  </a:ext>
                </a:extLst>
              </p:cNvPr>
              <p:cNvSpPr txBox="1"/>
              <p:nvPr/>
            </p:nvSpPr>
            <p:spPr>
              <a:xfrm>
                <a:off x="1900645" y="5834743"/>
                <a:ext cx="11430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|0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656E285E-E71D-3E74-727B-2EF3C5923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645" y="5834743"/>
                <a:ext cx="1143001" cy="523220"/>
              </a:xfrm>
              <a:prstGeom prst="rect">
                <a:avLst/>
              </a:prstGeom>
              <a:blipFill>
                <a:blip r:embed="rId4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61A280BB-21AB-9108-DEF4-9E51EBDE8A48}"/>
                  </a:ext>
                </a:extLst>
              </p:cNvPr>
              <p:cNvSpPr/>
              <p:nvPr/>
            </p:nvSpPr>
            <p:spPr>
              <a:xfrm>
                <a:off x="3569426" y="4761411"/>
                <a:ext cx="1240972" cy="61466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61A280BB-21AB-9108-DEF4-9E51EBDE8A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426" y="4761411"/>
                <a:ext cx="1240972" cy="614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192A31A2-8B41-7246-A103-ABB113112E44}"/>
                  </a:ext>
                </a:extLst>
              </p:cNvPr>
              <p:cNvSpPr/>
              <p:nvPr/>
            </p:nvSpPr>
            <p:spPr>
              <a:xfrm>
                <a:off x="6577150" y="4761411"/>
                <a:ext cx="1240972" cy="61466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192A31A2-8B41-7246-A103-ABB113112E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150" y="4761411"/>
                <a:ext cx="1240972" cy="6146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25057628-332B-6D0F-E9AC-78F04B1F2998}"/>
                  </a:ext>
                </a:extLst>
              </p:cNvPr>
              <p:cNvSpPr/>
              <p:nvPr/>
            </p:nvSpPr>
            <p:spPr>
              <a:xfrm>
                <a:off x="6577150" y="5789023"/>
                <a:ext cx="1240972" cy="61466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25057628-332B-6D0F-E9AC-78F04B1F29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150" y="5789023"/>
                <a:ext cx="1240972" cy="6146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円/楕円 12">
            <a:extLst>
              <a:ext uri="{FF2B5EF4-FFF2-40B4-BE49-F238E27FC236}">
                <a16:creationId xmlns:a16="http://schemas.microsoft.com/office/drawing/2014/main" id="{488705F2-F66F-A1B0-64DE-B692CC1E67DB}"/>
              </a:ext>
            </a:extLst>
          </p:cNvPr>
          <p:cNvSpPr/>
          <p:nvPr/>
        </p:nvSpPr>
        <p:spPr>
          <a:xfrm>
            <a:off x="5569676" y="4944643"/>
            <a:ext cx="248195" cy="24819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フローチャート: 論理和 13">
            <a:extLst>
              <a:ext uri="{FF2B5EF4-FFF2-40B4-BE49-F238E27FC236}">
                <a16:creationId xmlns:a16="http://schemas.microsoft.com/office/drawing/2014/main" id="{9F9D7508-00A0-38D3-4466-10336F11BB7B}"/>
              </a:ext>
            </a:extLst>
          </p:cNvPr>
          <p:cNvSpPr/>
          <p:nvPr/>
        </p:nvSpPr>
        <p:spPr>
          <a:xfrm>
            <a:off x="5465172" y="5878610"/>
            <a:ext cx="448873" cy="448873"/>
          </a:xfrm>
          <a:prstGeom prst="flowChar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6795D6CB-55A3-8CE4-54AA-59DEFF8FFE37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5689609" y="5192838"/>
            <a:ext cx="4165" cy="6857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6F27F637-1DF5-C10F-891B-9414EF1026E3}"/>
                  </a:ext>
                </a:extLst>
              </p:cNvPr>
              <p:cNvSpPr txBox="1"/>
              <p:nvPr/>
            </p:nvSpPr>
            <p:spPr>
              <a:xfrm>
                <a:off x="9359535" y="4807130"/>
                <a:ext cx="11430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6F27F637-1DF5-C10F-891B-9414EF102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535" y="4807130"/>
                <a:ext cx="1143001" cy="523220"/>
              </a:xfrm>
              <a:prstGeom prst="rect">
                <a:avLst/>
              </a:prstGeom>
              <a:blipFill>
                <a:blip r:embed="rId8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34DAD385-5828-1528-FF4E-2B3D7B64CDE0}"/>
                  </a:ext>
                </a:extLst>
              </p:cNvPr>
              <p:cNvSpPr txBox="1"/>
              <p:nvPr/>
            </p:nvSpPr>
            <p:spPr>
              <a:xfrm>
                <a:off x="9359535" y="5797067"/>
                <a:ext cx="11430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34DAD385-5828-1528-FF4E-2B3D7B64C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535" y="5797067"/>
                <a:ext cx="1143001" cy="523220"/>
              </a:xfrm>
              <a:prstGeom prst="rect">
                <a:avLst/>
              </a:prstGeom>
              <a:blipFill>
                <a:blip r:embed="rId8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687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9" grpId="0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3EF17-699A-8E13-C3FE-FD6DD4B00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21688A-A26F-80B1-43DF-D4FC34E88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Question 62: Solution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C3CA02-7B2E-3BC4-CCDB-2FBB5D061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dirty="0">
                <a:latin typeface="Cambria Math" panose="02040503050406030204" pitchFamily="18" charset="0"/>
                <a:ea typeface="Cambria Math" panose="02040503050406030204" pitchFamily="18" charset="0"/>
              </a:rPr>
              <a:t>For the Hadamard basis, we can use the H gate to go between the two bases.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FD6061B6-8548-72EA-F1E3-A4FADC57E92F}"/>
              </a:ext>
            </a:extLst>
          </p:cNvPr>
          <p:cNvCxnSpPr/>
          <p:nvPr/>
        </p:nvCxnSpPr>
        <p:spPr>
          <a:xfrm>
            <a:off x="2717073" y="3429000"/>
            <a:ext cx="66359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16D2AD2-9458-FD03-D4F4-90F1BA33A305}"/>
              </a:ext>
            </a:extLst>
          </p:cNvPr>
          <p:cNvCxnSpPr/>
          <p:nvPr/>
        </p:nvCxnSpPr>
        <p:spPr>
          <a:xfrm>
            <a:off x="2725781" y="4456612"/>
            <a:ext cx="66359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53FC921-8F41-6F5C-DBA7-5FD78747D7BF}"/>
                  </a:ext>
                </a:extLst>
              </p:cNvPr>
              <p:cNvSpPr txBox="1"/>
              <p:nvPr/>
            </p:nvSpPr>
            <p:spPr>
              <a:xfrm>
                <a:off x="1848393" y="3167390"/>
                <a:ext cx="11430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|+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53FC921-8F41-6F5C-DBA7-5FD78747D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393" y="3167390"/>
                <a:ext cx="1143001" cy="523220"/>
              </a:xfrm>
              <a:prstGeom prst="rect">
                <a:avLst/>
              </a:prstGeom>
              <a:blipFill>
                <a:blip r:embed="rId2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E14DC5D0-04F6-8B86-D3B6-07545391B084}"/>
                  </a:ext>
                </a:extLst>
              </p:cNvPr>
              <p:cNvSpPr txBox="1"/>
              <p:nvPr/>
            </p:nvSpPr>
            <p:spPr>
              <a:xfrm>
                <a:off x="1848393" y="4195002"/>
                <a:ext cx="11430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E14DC5D0-04F6-8B86-D3B6-07545391B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393" y="4195002"/>
                <a:ext cx="1143001" cy="523220"/>
              </a:xfrm>
              <a:prstGeom prst="rect">
                <a:avLst/>
              </a:prstGeom>
              <a:blipFill>
                <a:blip r:embed="rId3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95F8CEB2-BF83-A9C3-9A55-F7F19593B648}"/>
                  </a:ext>
                </a:extLst>
              </p:cNvPr>
              <p:cNvSpPr/>
              <p:nvPr/>
            </p:nvSpPr>
            <p:spPr>
              <a:xfrm>
                <a:off x="3517174" y="3121670"/>
                <a:ext cx="1240972" cy="61466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95F8CEB2-BF83-A9C3-9A55-F7F19593B6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174" y="3121670"/>
                <a:ext cx="1240972" cy="614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A2299A14-DCDF-AD88-1800-2D6F26510378}"/>
                  </a:ext>
                </a:extLst>
              </p:cNvPr>
              <p:cNvSpPr/>
              <p:nvPr/>
            </p:nvSpPr>
            <p:spPr>
              <a:xfrm>
                <a:off x="6524898" y="3121670"/>
                <a:ext cx="1240972" cy="61466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A2299A14-DCDF-AD88-1800-2D6F26510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898" y="3121670"/>
                <a:ext cx="1240972" cy="614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D7571A83-216F-B46D-0DCF-8E6640028001}"/>
                  </a:ext>
                </a:extLst>
              </p:cNvPr>
              <p:cNvSpPr/>
              <p:nvPr/>
            </p:nvSpPr>
            <p:spPr>
              <a:xfrm>
                <a:off x="6524898" y="4149282"/>
                <a:ext cx="1240972" cy="61466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D7571A83-216F-B46D-0DCF-8E66400280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898" y="4149282"/>
                <a:ext cx="1240972" cy="6146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円/楕円 12">
            <a:extLst>
              <a:ext uri="{FF2B5EF4-FFF2-40B4-BE49-F238E27FC236}">
                <a16:creationId xmlns:a16="http://schemas.microsoft.com/office/drawing/2014/main" id="{BA49E3A6-1CD4-7FA0-D566-5DE1E3B9F857}"/>
              </a:ext>
            </a:extLst>
          </p:cNvPr>
          <p:cNvSpPr/>
          <p:nvPr/>
        </p:nvSpPr>
        <p:spPr>
          <a:xfrm>
            <a:off x="5517424" y="3304902"/>
            <a:ext cx="248195" cy="24819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フローチャート: 論理和 13">
            <a:extLst>
              <a:ext uri="{FF2B5EF4-FFF2-40B4-BE49-F238E27FC236}">
                <a16:creationId xmlns:a16="http://schemas.microsoft.com/office/drawing/2014/main" id="{6EF28886-CFC3-D485-D8F7-1419E5A35FA7}"/>
              </a:ext>
            </a:extLst>
          </p:cNvPr>
          <p:cNvSpPr/>
          <p:nvPr/>
        </p:nvSpPr>
        <p:spPr>
          <a:xfrm>
            <a:off x="5412920" y="4238869"/>
            <a:ext cx="448873" cy="448873"/>
          </a:xfrm>
          <a:prstGeom prst="flowChar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8C8AD81-5317-86B9-2FA2-295D476E5C41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5637357" y="3553097"/>
            <a:ext cx="4165" cy="6857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50B3116F-7EDA-C787-F0A3-D98EDA5F5C87}"/>
                  </a:ext>
                </a:extLst>
              </p:cNvPr>
              <p:cNvSpPr txBox="1"/>
              <p:nvPr/>
            </p:nvSpPr>
            <p:spPr>
              <a:xfrm>
                <a:off x="9307283" y="3167389"/>
                <a:ext cx="11430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|+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50B3116F-7EDA-C787-F0A3-D98EDA5F5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7283" y="3167389"/>
                <a:ext cx="1143001" cy="523220"/>
              </a:xfrm>
              <a:prstGeom prst="rect">
                <a:avLst/>
              </a:prstGeom>
              <a:blipFill>
                <a:blip r:embed="rId7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CC4B6FD9-09A0-789C-26F4-258FFD8BA566}"/>
                  </a:ext>
                </a:extLst>
              </p:cNvPr>
              <p:cNvSpPr txBox="1"/>
              <p:nvPr/>
            </p:nvSpPr>
            <p:spPr>
              <a:xfrm>
                <a:off x="9307283" y="4157326"/>
                <a:ext cx="11430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|+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CC4B6FD9-09A0-789C-26F4-258FFD8BA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7283" y="4157326"/>
                <a:ext cx="1143001" cy="523220"/>
              </a:xfrm>
              <a:prstGeom prst="rect">
                <a:avLst/>
              </a:prstGeom>
              <a:blipFill>
                <a:blip r:embed="rId8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89379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F15E2-9B0A-BDCA-77A0-3CB84A4CD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68CBBF-0D9A-7D5A-4181-E732D4880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Question 62: Solution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388ABD-A7D2-A063-2B9C-7D8130292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dirty="0">
                <a:latin typeface="Cambria Math" panose="02040503050406030204" pitchFamily="18" charset="0"/>
                <a:ea typeface="Cambria Math" panose="02040503050406030204" pitchFamily="18" charset="0"/>
              </a:rPr>
              <a:t>For the Hadamard basis, we can use the H gate to go between the two bases.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A373DF7-9AE8-D7E9-E3A5-8D270E55166B}"/>
              </a:ext>
            </a:extLst>
          </p:cNvPr>
          <p:cNvCxnSpPr/>
          <p:nvPr/>
        </p:nvCxnSpPr>
        <p:spPr>
          <a:xfrm>
            <a:off x="2717073" y="3429000"/>
            <a:ext cx="66359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68B76902-A04A-FB50-8605-35974AB83F70}"/>
              </a:ext>
            </a:extLst>
          </p:cNvPr>
          <p:cNvCxnSpPr/>
          <p:nvPr/>
        </p:nvCxnSpPr>
        <p:spPr>
          <a:xfrm>
            <a:off x="2725781" y="4456612"/>
            <a:ext cx="66359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9A5BC6E7-D6B6-6723-419D-BABCDFE5B50C}"/>
                  </a:ext>
                </a:extLst>
              </p:cNvPr>
              <p:cNvSpPr txBox="1"/>
              <p:nvPr/>
            </p:nvSpPr>
            <p:spPr>
              <a:xfrm>
                <a:off x="1848393" y="3167390"/>
                <a:ext cx="11430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|−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9A5BC6E7-D6B6-6723-419D-BABCDFE5B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393" y="3167390"/>
                <a:ext cx="1143001" cy="523220"/>
              </a:xfrm>
              <a:prstGeom prst="rect">
                <a:avLst/>
              </a:prstGeom>
              <a:blipFill>
                <a:blip r:embed="rId2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0B5CDDE9-7013-AD7E-9782-28A29AD7FCD5}"/>
                  </a:ext>
                </a:extLst>
              </p:cNvPr>
              <p:cNvSpPr txBox="1"/>
              <p:nvPr/>
            </p:nvSpPr>
            <p:spPr>
              <a:xfrm>
                <a:off x="1848393" y="4195002"/>
                <a:ext cx="11430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0B5CDDE9-7013-AD7E-9782-28A29AD7F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393" y="4195002"/>
                <a:ext cx="1143001" cy="523220"/>
              </a:xfrm>
              <a:prstGeom prst="rect">
                <a:avLst/>
              </a:prstGeom>
              <a:blipFill>
                <a:blip r:embed="rId3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56C237F1-8F9C-A48A-BD55-4F809AEC6D14}"/>
                  </a:ext>
                </a:extLst>
              </p:cNvPr>
              <p:cNvSpPr/>
              <p:nvPr/>
            </p:nvSpPr>
            <p:spPr>
              <a:xfrm>
                <a:off x="3517174" y="3121670"/>
                <a:ext cx="1240972" cy="61466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56C237F1-8F9C-A48A-BD55-4F809AEC6D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174" y="3121670"/>
                <a:ext cx="1240972" cy="614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AE68D21A-D1B3-5F6D-AC84-7C7CB64CF8C4}"/>
                  </a:ext>
                </a:extLst>
              </p:cNvPr>
              <p:cNvSpPr/>
              <p:nvPr/>
            </p:nvSpPr>
            <p:spPr>
              <a:xfrm>
                <a:off x="6524898" y="3121670"/>
                <a:ext cx="1240972" cy="61466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AE68D21A-D1B3-5F6D-AC84-7C7CB64CF8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898" y="3121670"/>
                <a:ext cx="1240972" cy="614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F11FB085-9AF4-F664-333C-878D73720CE4}"/>
                  </a:ext>
                </a:extLst>
              </p:cNvPr>
              <p:cNvSpPr/>
              <p:nvPr/>
            </p:nvSpPr>
            <p:spPr>
              <a:xfrm>
                <a:off x="6524898" y="4149282"/>
                <a:ext cx="1240972" cy="61466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F11FB085-9AF4-F664-333C-878D73720C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898" y="4149282"/>
                <a:ext cx="1240972" cy="6146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円/楕円 12">
            <a:extLst>
              <a:ext uri="{FF2B5EF4-FFF2-40B4-BE49-F238E27FC236}">
                <a16:creationId xmlns:a16="http://schemas.microsoft.com/office/drawing/2014/main" id="{F578B4C5-077B-F4B5-648C-34D994B6148E}"/>
              </a:ext>
            </a:extLst>
          </p:cNvPr>
          <p:cNvSpPr/>
          <p:nvPr/>
        </p:nvSpPr>
        <p:spPr>
          <a:xfrm>
            <a:off x="5517424" y="3304902"/>
            <a:ext cx="248195" cy="24819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フローチャート: 論理和 13">
            <a:extLst>
              <a:ext uri="{FF2B5EF4-FFF2-40B4-BE49-F238E27FC236}">
                <a16:creationId xmlns:a16="http://schemas.microsoft.com/office/drawing/2014/main" id="{FC608777-99BB-7DE7-F034-A0100A2883E3}"/>
              </a:ext>
            </a:extLst>
          </p:cNvPr>
          <p:cNvSpPr/>
          <p:nvPr/>
        </p:nvSpPr>
        <p:spPr>
          <a:xfrm>
            <a:off x="5412920" y="4238869"/>
            <a:ext cx="448873" cy="448873"/>
          </a:xfrm>
          <a:prstGeom prst="flowChar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CEEE468-DE92-9776-FEF5-DDB0ADE1550D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5637357" y="3553097"/>
            <a:ext cx="4165" cy="6857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BBF823F-1EFE-D459-08B9-CAFEE32369F4}"/>
                  </a:ext>
                </a:extLst>
              </p:cNvPr>
              <p:cNvSpPr txBox="1"/>
              <p:nvPr/>
            </p:nvSpPr>
            <p:spPr>
              <a:xfrm>
                <a:off x="9307283" y="3167389"/>
                <a:ext cx="11430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|−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BBF823F-1EFE-D459-08B9-CAFEE3236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7283" y="3167389"/>
                <a:ext cx="1143001" cy="523220"/>
              </a:xfrm>
              <a:prstGeom prst="rect">
                <a:avLst/>
              </a:prstGeom>
              <a:blipFill>
                <a:blip r:embed="rId7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B752C90E-0EBD-4994-2A71-7FDA33889871}"/>
                  </a:ext>
                </a:extLst>
              </p:cNvPr>
              <p:cNvSpPr txBox="1"/>
              <p:nvPr/>
            </p:nvSpPr>
            <p:spPr>
              <a:xfrm>
                <a:off x="9307283" y="4157326"/>
                <a:ext cx="11430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|−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B752C90E-0EBD-4994-2A71-7FDA33889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7283" y="4157326"/>
                <a:ext cx="1143001" cy="523220"/>
              </a:xfrm>
              <a:prstGeom prst="rect">
                <a:avLst/>
              </a:prstGeom>
              <a:blipFill>
                <a:blip r:embed="rId8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39637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10F1B-D717-544D-C2D0-6C8905C3B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540CD9-767A-788A-F4A3-515C5059B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Question 63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A18F13-366B-5F21-8FD5-DE385294F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dirty="0">
                <a:latin typeface="Cambria Math" panose="02040503050406030204" pitchFamily="18" charset="0"/>
                <a:ea typeface="Cambria Math" panose="02040503050406030204" pitchFamily="18" charset="0"/>
              </a:rPr>
              <a:t>Does this circuit clone a standard basis state? 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177AAE8-E0F6-D777-B873-2CF861C0C181}"/>
              </a:ext>
            </a:extLst>
          </p:cNvPr>
          <p:cNvCxnSpPr/>
          <p:nvPr/>
        </p:nvCxnSpPr>
        <p:spPr>
          <a:xfrm>
            <a:off x="2717073" y="3429000"/>
            <a:ext cx="66359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D308EA8C-55A5-620E-30D1-F19E8E58EB6A}"/>
              </a:ext>
            </a:extLst>
          </p:cNvPr>
          <p:cNvCxnSpPr/>
          <p:nvPr/>
        </p:nvCxnSpPr>
        <p:spPr>
          <a:xfrm>
            <a:off x="2725781" y="4456612"/>
            <a:ext cx="66359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78C6D7F1-96C0-FD3E-5E75-12A498DE4BC9}"/>
                  </a:ext>
                </a:extLst>
              </p:cNvPr>
              <p:cNvSpPr txBox="1"/>
              <p:nvPr/>
            </p:nvSpPr>
            <p:spPr>
              <a:xfrm>
                <a:off x="1848393" y="3167390"/>
                <a:ext cx="11430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|1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78C6D7F1-96C0-FD3E-5E75-12A498DE4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393" y="3167390"/>
                <a:ext cx="1143001" cy="523220"/>
              </a:xfrm>
              <a:prstGeom prst="rect">
                <a:avLst/>
              </a:prstGeom>
              <a:blipFill>
                <a:blip r:embed="rId2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938D6C89-4C55-F5D4-829B-F771C1C54A4E}"/>
                  </a:ext>
                </a:extLst>
              </p:cNvPr>
              <p:cNvSpPr txBox="1"/>
              <p:nvPr/>
            </p:nvSpPr>
            <p:spPr>
              <a:xfrm>
                <a:off x="1848393" y="4195002"/>
                <a:ext cx="11430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938D6C89-4C55-F5D4-829B-F771C1C54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393" y="4195002"/>
                <a:ext cx="1143001" cy="523220"/>
              </a:xfrm>
              <a:prstGeom prst="rect">
                <a:avLst/>
              </a:prstGeom>
              <a:blipFill>
                <a:blip r:embed="rId3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F486A617-1795-E18C-176C-1F706C23FA23}"/>
                  </a:ext>
                </a:extLst>
              </p:cNvPr>
              <p:cNvSpPr/>
              <p:nvPr/>
            </p:nvSpPr>
            <p:spPr>
              <a:xfrm>
                <a:off x="3517174" y="3121670"/>
                <a:ext cx="1240972" cy="61466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F486A617-1795-E18C-176C-1F706C23FA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174" y="3121670"/>
                <a:ext cx="1240972" cy="614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797E693B-ACB4-4153-F335-4DF766668D11}"/>
                  </a:ext>
                </a:extLst>
              </p:cNvPr>
              <p:cNvSpPr/>
              <p:nvPr/>
            </p:nvSpPr>
            <p:spPr>
              <a:xfrm>
                <a:off x="6524898" y="3121670"/>
                <a:ext cx="1240972" cy="61466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797E693B-ACB4-4153-F335-4DF766668D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898" y="3121670"/>
                <a:ext cx="1240972" cy="614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E9DFD1B8-ACD1-FA67-56C0-83323B37671D}"/>
                  </a:ext>
                </a:extLst>
              </p:cNvPr>
              <p:cNvSpPr/>
              <p:nvPr/>
            </p:nvSpPr>
            <p:spPr>
              <a:xfrm>
                <a:off x="6524898" y="4149282"/>
                <a:ext cx="1240972" cy="61466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E9DFD1B8-ACD1-FA67-56C0-83323B3767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898" y="4149282"/>
                <a:ext cx="1240972" cy="6146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円/楕円 18">
            <a:extLst>
              <a:ext uri="{FF2B5EF4-FFF2-40B4-BE49-F238E27FC236}">
                <a16:creationId xmlns:a16="http://schemas.microsoft.com/office/drawing/2014/main" id="{C77A86CA-DD6B-DB71-19B9-6E61940C5BC5}"/>
              </a:ext>
            </a:extLst>
          </p:cNvPr>
          <p:cNvSpPr/>
          <p:nvPr/>
        </p:nvSpPr>
        <p:spPr>
          <a:xfrm>
            <a:off x="5517424" y="3304902"/>
            <a:ext cx="248195" cy="24819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フローチャート: 論理和 19">
            <a:extLst>
              <a:ext uri="{FF2B5EF4-FFF2-40B4-BE49-F238E27FC236}">
                <a16:creationId xmlns:a16="http://schemas.microsoft.com/office/drawing/2014/main" id="{072DF76B-5BFA-2416-C988-F779C5E23C5C}"/>
              </a:ext>
            </a:extLst>
          </p:cNvPr>
          <p:cNvSpPr/>
          <p:nvPr/>
        </p:nvSpPr>
        <p:spPr>
          <a:xfrm>
            <a:off x="5412920" y="4238869"/>
            <a:ext cx="448873" cy="448873"/>
          </a:xfrm>
          <a:prstGeom prst="flowChar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DEC6F06E-97DD-1FDF-7CA0-D903F26E7FD2}"/>
              </a:ext>
            </a:extLst>
          </p:cNvPr>
          <p:cNvCxnSpPr>
            <a:cxnSpLocks/>
            <a:stCxn id="19" idx="4"/>
            <a:endCxn id="20" idx="0"/>
          </p:cNvCxnSpPr>
          <p:nvPr/>
        </p:nvCxnSpPr>
        <p:spPr>
          <a:xfrm flipH="1">
            <a:off x="5637357" y="3553097"/>
            <a:ext cx="4165" cy="6857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200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BE7AC-2375-EB31-CEAD-9C772EF87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D6FBDB-9438-AEFB-9885-8EC64770F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Question 63: Solution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8F4EE3-2A28-CB24-FC15-248C68D2F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dirty="0">
                <a:latin typeface="Cambria Math" panose="02040503050406030204" pitchFamily="18" charset="0"/>
                <a:ea typeface="Cambria Math" panose="02040503050406030204" pitchFamily="18" charset="0"/>
              </a:rPr>
              <a:t>Does this circuit clone a standard basis state? 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A95A9E5-633D-E44C-A963-9D9FED894A7E}"/>
              </a:ext>
            </a:extLst>
          </p:cNvPr>
          <p:cNvCxnSpPr/>
          <p:nvPr/>
        </p:nvCxnSpPr>
        <p:spPr>
          <a:xfrm>
            <a:off x="2717073" y="3429000"/>
            <a:ext cx="66359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B181610-665F-4545-26C9-7C81DEF0B257}"/>
              </a:ext>
            </a:extLst>
          </p:cNvPr>
          <p:cNvCxnSpPr/>
          <p:nvPr/>
        </p:nvCxnSpPr>
        <p:spPr>
          <a:xfrm>
            <a:off x="2725781" y="4456612"/>
            <a:ext cx="66359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7262E7BD-2FF0-D1C6-48D7-1D9815751C63}"/>
                  </a:ext>
                </a:extLst>
              </p:cNvPr>
              <p:cNvSpPr txBox="1"/>
              <p:nvPr/>
            </p:nvSpPr>
            <p:spPr>
              <a:xfrm>
                <a:off x="1848393" y="3167390"/>
                <a:ext cx="11430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7262E7BD-2FF0-D1C6-48D7-1D9815751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393" y="3167390"/>
                <a:ext cx="1143001" cy="523220"/>
              </a:xfrm>
              <a:prstGeom prst="rect">
                <a:avLst/>
              </a:prstGeom>
              <a:blipFill>
                <a:blip r:embed="rId2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5794094-0136-9754-D8F1-BCD9039723AE}"/>
                  </a:ext>
                </a:extLst>
              </p:cNvPr>
              <p:cNvSpPr txBox="1"/>
              <p:nvPr/>
            </p:nvSpPr>
            <p:spPr>
              <a:xfrm>
                <a:off x="1848393" y="4195002"/>
                <a:ext cx="11430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5794094-0136-9754-D8F1-BCD903972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393" y="4195002"/>
                <a:ext cx="1143001" cy="523220"/>
              </a:xfrm>
              <a:prstGeom prst="rect">
                <a:avLst/>
              </a:prstGeom>
              <a:blipFill>
                <a:blip r:embed="rId3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C7AE48F8-D49C-13C9-BC44-31E2B49914B1}"/>
                  </a:ext>
                </a:extLst>
              </p:cNvPr>
              <p:cNvSpPr/>
              <p:nvPr/>
            </p:nvSpPr>
            <p:spPr>
              <a:xfrm>
                <a:off x="3517174" y="3121670"/>
                <a:ext cx="1240972" cy="61466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C7AE48F8-D49C-13C9-BC44-31E2B49914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174" y="3121670"/>
                <a:ext cx="1240972" cy="614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14105F3F-6E2D-550F-FD3E-306839C597FF}"/>
                  </a:ext>
                </a:extLst>
              </p:cNvPr>
              <p:cNvSpPr/>
              <p:nvPr/>
            </p:nvSpPr>
            <p:spPr>
              <a:xfrm>
                <a:off x="6524898" y="3121670"/>
                <a:ext cx="1240972" cy="61466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14105F3F-6E2D-550F-FD3E-306839C597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898" y="3121670"/>
                <a:ext cx="1240972" cy="614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D2A67E9F-90FC-DFA3-33BE-79F48F48EBE1}"/>
                  </a:ext>
                </a:extLst>
              </p:cNvPr>
              <p:cNvSpPr/>
              <p:nvPr/>
            </p:nvSpPr>
            <p:spPr>
              <a:xfrm>
                <a:off x="6524898" y="4149282"/>
                <a:ext cx="1240972" cy="61466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D2A67E9F-90FC-DFA3-33BE-79F48F48EB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898" y="4149282"/>
                <a:ext cx="1240972" cy="6146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円/楕円 18">
            <a:extLst>
              <a:ext uri="{FF2B5EF4-FFF2-40B4-BE49-F238E27FC236}">
                <a16:creationId xmlns:a16="http://schemas.microsoft.com/office/drawing/2014/main" id="{30E4CD99-551A-F183-756D-0AF136AE2729}"/>
              </a:ext>
            </a:extLst>
          </p:cNvPr>
          <p:cNvSpPr/>
          <p:nvPr/>
        </p:nvSpPr>
        <p:spPr>
          <a:xfrm>
            <a:off x="5517424" y="3304902"/>
            <a:ext cx="248195" cy="24819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フローチャート: 論理和 19">
            <a:extLst>
              <a:ext uri="{FF2B5EF4-FFF2-40B4-BE49-F238E27FC236}">
                <a16:creationId xmlns:a16="http://schemas.microsoft.com/office/drawing/2014/main" id="{005163F9-C350-4F17-E3F9-C69D23396F28}"/>
              </a:ext>
            </a:extLst>
          </p:cNvPr>
          <p:cNvSpPr/>
          <p:nvPr/>
        </p:nvSpPr>
        <p:spPr>
          <a:xfrm>
            <a:off x="5412920" y="4238869"/>
            <a:ext cx="448873" cy="448873"/>
          </a:xfrm>
          <a:prstGeom prst="flowChar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C12A82A2-7A43-BE62-D712-63207CF391DA}"/>
              </a:ext>
            </a:extLst>
          </p:cNvPr>
          <p:cNvCxnSpPr>
            <a:cxnSpLocks/>
            <a:stCxn id="19" idx="4"/>
            <a:endCxn id="20" idx="0"/>
          </p:cNvCxnSpPr>
          <p:nvPr/>
        </p:nvCxnSpPr>
        <p:spPr>
          <a:xfrm flipH="1">
            <a:off x="5637357" y="3553097"/>
            <a:ext cx="4165" cy="6857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11C0994-9D63-90D3-3623-851B23803B94}"/>
              </a:ext>
            </a:extLst>
          </p:cNvPr>
          <p:cNvCxnSpPr/>
          <p:nvPr/>
        </p:nvCxnSpPr>
        <p:spPr>
          <a:xfrm>
            <a:off x="5042263" y="2664823"/>
            <a:ext cx="0" cy="2599508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275BCE6-CCFC-32A9-F4D6-A259744DBF5D}"/>
                  </a:ext>
                </a:extLst>
              </p:cNvPr>
              <p:cNvSpPr txBox="1"/>
              <p:nvPr/>
            </p:nvSpPr>
            <p:spPr>
              <a:xfrm>
                <a:off x="2356213" y="5355255"/>
                <a:ext cx="5120635" cy="1011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|1⟩|0⟩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275BCE6-CCFC-32A9-F4D6-A259744DB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6213" y="5355255"/>
                <a:ext cx="5120635" cy="1011495"/>
              </a:xfrm>
              <a:prstGeom prst="rect">
                <a:avLst/>
              </a:prstGeom>
              <a:blipFill>
                <a:blip r:embed="rId7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8414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89D27-1EFD-7C3E-3E9B-E266BF3E3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C97FDB-C7E9-E009-D7FB-85A94AD38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Question 63: Solution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123D34-27E1-24B9-2BA4-AACE26FB1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dirty="0">
                <a:latin typeface="Cambria Math" panose="02040503050406030204" pitchFamily="18" charset="0"/>
                <a:ea typeface="Cambria Math" panose="02040503050406030204" pitchFamily="18" charset="0"/>
              </a:rPr>
              <a:t>Does this circuit clone a standard basis state? 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3026FF27-2C59-27F5-A50B-5A7B5FA9B423}"/>
              </a:ext>
            </a:extLst>
          </p:cNvPr>
          <p:cNvCxnSpPr/>
          <p:nvPr/>
        </p:nvCxnSpPr>
        <p:spPr>
          <a:xfrm>
            <a:off x="2717073" y="3429000"/>
            <a:ext cx="66359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43F830BA-AEB8-8AC6-7ED8-AD76268F4792}"/>
              </a:ext>
            </a:extLst>
          </p:cNvPr>
          <p:cNvCxnSpPr/>
          <p:nvPr/>
        </p:nvCxnSpPr>
        <p:spPr>
          <a:xfrm>
            <a:off x="2725781" y="4456612"/>
            <a:ext cx="66359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E6455314-E29B-9860-E24F-28CBB8CD98DC}"/>
                  </a:ext>
                </a:extLst>
              </p:cNvPr>
              <p:cNvSpPr txBox="1"/>
              <p:nvPr/>
            </p:nvSpPr>
            <p:spPr>
              <a:xfrm>
                <a:off x="1848393" y="3167390"/>
                <a:ext cx="11430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E6455314-E29B-9860-E24F-28CBB8CD9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393" y="3167390"/>
                <a:ext cx="1143001" cy="523220"/>
              </a:xfrm>
              <a:prstGeom prst="rect">
                <a:avLst/>
              </a:prstGeom>
              <a:blipFill>
                <a:blip r:embed="rId2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994EBE8C-ED07-CC15-F8AE-64703B714E01}"/>
                  </a:ext>
                </a:extLst>
              </p:cNvPr>
              <p:cNvSpPr txBox="1"/>
              <p:nvPr/>
            </p:nvSpPr>
            <p:spPr>
              <a:xfrm>
                <a:off x="1848393" y="4195002"/>
                <a:ext cx="11430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994EBE8C-ED07-CC15-F8AE-64703B714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393" y="4195002"/>
                <a:ext cx="1143001" cy="523220"/>
              </a:xfrm>
              <a:prstGeom prst="rect">
                <a:avLst/>
              </a:prstGeom>
              <a:blipFill>
                <a:blip r:embed="rId3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348302DA-D4C0-672E-4FB3-1733B26502B8}"/>
                  </a:ext>
                </a:extLst>
              </p:cNvPr>
              <p:cNvSpPr/>
              <p:nvPr/>
            </p:nvSpPr>
            <p:spPr>
              <a:xfrm>
                <a:off x="3517174" y="3121670"/>
                <a:ext cx="1240972" cy="61466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348302DA-D4C0-672E-4FB3-1733B26502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174" y="3121670"/>
                <a:ext cx="1240972" cy="614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3B181E17-01AC-823A-DA0C-9AB25EE057C0}"/>
                  </a:ext>
                </a:extLst>
              </p:cNvPr>
              <p:cNvSpPr/>
              <p:nvPr/>
            </p:nvSpPr>
            <p:spPr>
              <a:xfrm>
                <a:off x="6524898" y="3121670"/>
                <a:ext cx="1240972" cy="61466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3B181E17-01AC-823A-DA0C-9AB25EE057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898" y="3121670"/>
                <a:ext cx="1240972" cy="614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AF9AE620-BE01-B36C-D946-5E5D9AD447BF}"/>
                  </a:ext>
                </a:extLst>
              </p:cNvPr>
              <p:cNvSpPr/>
              <p:nvPr/>
            </p:nvSpPr>
            <p:spPr>
              <a:xfrm>
                <a:off x="6524898" y="4149282"/>
                <a:ext cx="1240972" cy="61466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AF9AE620-BE01-B36C-D946-5E5D9AD447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898" y="4149282"/>
                <a:ext cx="1240972" cy="6146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円/楕円 18">
            <a:extLst>
              <a:ext uri="{FF2B5EF4-FFF2-40B4-BE49-F238E27FC236}">
                <a16:creationId xmlns:a16="http://schemas.microsoft.com/office/drawing/2014/main" id="{CB705A70-C6D4-35EC-8562-47B48A9E2FB5}"/>
              </a:ext>
            </a:extLst>
          </p:cNvPr>
          <p:cNvSpPr/>
          <p:nvPr/>
        </p:nvSpPr>
        <p:spPr>
          <a:xfrm>
            <a:off x="5517424" y="3304902"/>
            <a:ext cx="248195" cy="24819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フローチャート: 論理和 19">
            <a:extLst>
              <a:ext uri="{FF2B5EF4-FFF2-40B4-BE49-F238E27FC236}">
                <a16:creationId xmlns:a16="http://schemas.microsoft.com/office/drawing/2014/main" id="{26084F8E-8CA5-61AE-CF83-9A6BB5877F01}"/>
              </a:ext>
            </a:extLst>
          </p:cNvPr>
          <p:cNvSpPr/>
          <p:nvPr/>
        </p:nvSpPr>
        <p:spPr>
          <a:xfrm>
            <a:off x="5412920" y="4238869"/>
            <a:ext cx="448873" cy="448873"/>
          </a:xfrm>
          <a:prstGeom prst="flowChar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D5296A3E-3AFD-D11E-E8F9-B95954FDB07B}"/>
              </a:ext>
            </a:extLst>
          </p:cNvPr>
          <p:cNvCxnSpPr>
            <a:cxnSpLocks/>
            <a:stCxn id="19" idx="4"/>
            <a:endCxn id="20" idx="0"/>
          </p:cNvCxnSpPr>
          <p:nvPr/>
        </p:nvCxnSpPr>
        <p:spPr>
          <a:xfrm flipH="1">
            <a:off x="5637357" y="3553097"/>
            <a:ext cx="4165" cy="6857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605C5D12-2E64-7BD3-51C5-B3CFDF3E4CB0}"/>
              </a:ext>
            </a:extLst>
          </p:cNvPr>
          <p:cNvCxnSpPr/>
          <p:nvPr/>
        </p:nvCxnSpPr>
        <p:spPr>
          <a:xfrm>
            <a:off x="6203224" y="2683082"/>
            <a:ext cx="0" cy="2599508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1F5136C5-C44E-94C1-5E2E-CA06BB9E612F}"/>
                  </a:ext>
                </a:extLst>
              </p:cNvPr>
              <p:cNvSpPr txBox="1"/>
              <p:nvPr/>
            </p:nvSpPr>
            <p:spPr>
              <a:xfrm>
                <a:off x="3642906" y="5410920"/>
                <a:ext cx="5120635" cy="1011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|1⟩|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1F5136C5-C44E-94C1-5E2E-CA06BB9E6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906" y="5410920"/>
                <a:ext cx="5120635" cy="1011495"/>
              </a:xfrm>
              <a:prstGeom prst="rect">
                <a:avLst/>
              </a:prstGeom>
              <a:blipFill>
                <a:blip r:embed="rId7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99382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26B07-AC25-BB89-6DB8-9AFCDF177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F8A8E5-88DC-162B-E05E-5ABDE9074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 panose="020B0503020202020204" pitchFamily="34" charset="0"/>
              </a:rPr>
              <a:t>Question 63: Solution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A42400-7321-9D23-E4C1-7BC30ADC9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dirty="0">
                <a:latin typeface="Cambria Math" panose="02040503050406030204" pitchFamily="18" charset="0"/>
                <a:ea typeface="Cambria Math" panose="02040503050406030204" pitchFamily="18" charset="0"/>
              </a:rPr>
              <a:t>Does this circuit clone a standard basis state? 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BFB010F7-16FC-5EF6-14AD-536FA0BAEBB6}"/>
              </a:ext>
            </a:extLst>
          </p:cNvPr>
          <p:cNvCxnSpPr/>
          <p:nvPr/>
        </p:nvCxnSpPr>
        <p:spPr>
          <a:xfrm>
            <a:off x="2717073" y="3429000"/>
            <a:ext cx="66359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B5C921EE-E236-B7E9-72DB-376298FAC275}"/>
              </a:ext>
            </a:extLst>
          </p:cNvPr>
          <p:cNvCxnSpPr/>
          <p:nvPr/>
        </p:nvCxnSpPr>
        <p:spPr>
          <a:xfrm>
            <a:off x="2725781" y="4456612"/>
            <a:ext cx="66359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AAAEA40-62EF-B5CF-EC88-C6238839C7ED}"/>
                  </a:ext>
                </a:extLst>
              </p:cNvPr>
              <p:cNvSpPr txBox="1"/>
              <p:nvPr/>
            </p:nvSpPr>
            <p:spPr>
              <a:xfrm>
                <a:off x="1848393" y="3167390"/>
                <a:ext cx="11430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AAAEA40-62EF-B5CF-EC88-C6238839C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393" y="3167390"/>
                <a:ext cx="1143001" cy="523220"/>
              </a:xfrm>
              <a:prstGeom prst="rect">
                <a:avLst/>
              </a:prstGeom>
              <a:blipFill>
                <a:blip r:embed="rId2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94229C78-F83A-32F3-91F5-AAD88C9EB5D7}"/>
                  </a:ext>
                </a:extLst>
              </p:cNvPr>
              <p:cNvSpPr txBox="1"/>
              <p:nvPr/>
            </p:nvSpPr>
            <p:spPr>
              <a:xfrm>
                <a:off x="1848393" y="4195002"/>
                <a:ext cx="11430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94229C78-F83A-32F3-91F5-AAD88C9EB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393" y="4195002"/>
                <a:ext cx="1143001" cy="523220"/>
              </a:xfrm>
              <a:prstGeom prst="rect">
                <a:avLst/>
              </a:prstGeom>
              <a:blipFill>
                <a:blip r:embed="rId3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D0C4A4CB-1C68-533F-543B-7B5D479E2FDE}"/>
                  </a:ext>
                </a:extLst>
              </p:cNvPr>
              <p:cNvSpPr/>
              <p:nvPr/>
            </p:nvSpPr>
            <p:spPr>
              <a:xfrm>
                <a:off x="3517174" y="3121670"/>
                <a:ext cx="1240972" cy="61466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D0C4A4CB-1C68-533F-543B-7B5D479E2F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174" y="3121670"/>
                <a:ext cx="1240972" cy="614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7F7A22E7-E5BC-6463-AADF-605A1DE3BE5E}"/>
                  </a:ext>
                </a:extLst>
              </p:cNvPr>
              <p:cNvSpPr/>
              <p:nvPr/>
            </p:nvSpPr>
            <p:spPr>
              <a:xfrm>
                <a:off x="6524898" y="3121670"/>
                <a:ext cx="1240972" cy="61466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7F7A22E7-E5BC-6463-AADF-605A1DE3BE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898" y="3121670"/>
                <a:ext cx="1240972" cy="614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5E821212-3432-F7EC-FF5C-58BB98DDF976}"/>
                  </a:ext>
                </a:extLst>
              </p:cNvPr>
              <p:cNvSpPr/>
              <p:nvPr/>
            </p:nvSpPr>
            <p:spPr>
              <a:xfrm>
                <a:off x="6524898" y="4149282"/>
                <a:ext cx="1240972" cy="61466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5E821212-3432-F7EC-FF5C-58BB98DDF9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898" y="4149282"/>
                <a:ext cx="1240972" cy="6146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円/楕円 18">
            <a:extLst>
              <a:ext uri="{FF2B5EF4-FFF2-40B4-BE49-F238E27FC236}">
                <a16:creationId xmlns:a16="http://schemas.microsoft.com/office/drawing/2014/main" id="{484AD1A0-2CB8-6D00-53CB-145C306284AC}"/>
              </a:ext>
            </a:extLst>
          </p:cNvPr>
          <p:cNvSpPr/>
          <p:nvPr/>
        </p:nvSpPr>
        <p:spPr>
          <a:xfrm>
            <a:off x="5517424" y="3304902"/>
            <a:ext cx="248195" cy="24819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フローチャート: 論理和 19">
            <a:extLst>
              <a:ext uri="{FF2B5EF4-FFF2-40B4-BE49-F238E27FC236}">
                <a16:creationId xmlns:a16="http://schemas.microsoft.com/office/drawing/2014/main" id="{B57ECBA2-C3ED-F877-4FB9-D6033A4D2C74}"/>
              </a:ext>
            </a:extLst>
          </p:cNvPr>
          <p:cNvSpPr/>
          <p:nvPr/>
        </p:nvSpPr>
        <p:spPr>
          <a:xfrm>
            <a:off x="5412920" y="4238869"/>
            <a:ext cx="448873" cy="448873"/>
          </a:xfrm>
          <a:prstGeom prst="flowChar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C8468B8A-F6A1-989D-5E87-9DAA44C92838}"/>
              </a:ext>
            </a:extLst>
          </p:cNvPr>
          <p:cNvCxnSpPr>
            <a:cxnSpLocks/>
            <a:stCxn id="19" idx="4"/>
            <a:endCxn id="20" idx="0"/>
          </p:cNvCxnSpPr>
          <p:nvPr/>
        </p:nvCxnSpPr>
        <p:spPr>
          <a:xfrm flipH="1">
            <a:off x="5637357" y="3553097"/>
            <a:ext cx="4165" cy="6857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F2D91520-A68A-91B2-EB77-A322C261C825}"/>
              </a:ext>
            </a:extLst>
          </p:cNvPr>
          <p:cNvCxnSpPr/>
          <p:nvPr/>
        </p:nvCxnSpPr>
        <p:spPr>
          <a:xfrm>
            <a:off x="8102425" y="2627984"/>
            <a:ext cx="0" cy="2599508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DC6B531-F570-3800-FC6F-D473066AF430}"/>
                  </a:ext>
                </a:extLst>
              </p:cNvPr>
              <p:cNvSpPr txBox="1"/>
              <p:nvPr/>
            </p:nvSpPr>
            <p:spPr>
              <a:xfrm>
                <a:off x="5542107" y="5355822"/>
                <a:ext cx="5120635" cy="1011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en-US" altLang="ja-JP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≠|1⟩|1⟩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DC6B531-F570-3800-FC6F-D473066AF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107" y="5355822"/>
                <a:ext cx="5120635" cy="1011495"/>
              </a:xfrm>
              <a:prstGeom prst="rect">
                <a:avLst/>
              </a:prstGeom>
              <a:blipFill>
                <a:blip r:embed="rId7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94988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BC21A2-9888-552D-425E-D88A3059C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More on Wednesday…!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995EB9-8104-4638-AE0C-3536088B9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204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3731</TotalTime>
  <Words>1401</Words>
  <Application>Microsoft Macintosh PowerPoint</Application>
  <PresentationFormat>ワイド画面</PresentationFormat>
  <Paragraphs>155</Paragraphs>
  <Slides>30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6" baseType="lpstr">
      <vt:lpstr>游ゴシック</vt:lpstr>
      <vt:lpstr>游ゴシック Light</vt:lpstr>
      <vt:lpstr>Arial</vt:lpstr>
      <vt:lpstr>Avenir Next</vt:lpstr>
      <vt:lpstr>Cambria Math</vt:lpstr>
      <vt:lpstr>Office テーマ</vt:lpstr>
      <vt:lpstr>Quantum Information I: No-Cloning Theorem</vt:lpstr>
      <vt:lpstr>Ctrl + C, Ctrl + V</vt:lpstr>
      <vt:lpstr>Cloning</vt:lpstr>
      <vt:lpstr>Question 56</vt:lpstr>
      <vt:lpstr>Question 56: Solution</vt:lpstr>
      <vt:lpstr>Question 56: Solution</vt:lpstr>
      <vt:lpstr>Question 56: Solution</vt:lpstr>
      <vt:lpstr>No Cloning Theorem</vt:lpstr>
      <vt:lpstr>Inner Products</vt:lpstr>
      <vt:lpstr>Question 57</vt:lpstr>
      <vt:lpstr>Question 57: Solution</vt:lpstr>
      <vt:lpstr>Inner Product Trick (Product States)</vt:lpstr>
      <vt:lpstr>Question 58</vt:lpstr>
      <vt:lpstr>Question 58: Solution</vt:lpstr>
      <vt:lpstr>Question 59</vt:lpstr>
      <vt:lpstr>Question 59: Solution</vt:lpstr>
      <vt:lpstr>Question 59: Solution</vt:lpstr>
      <vt:lpstr>Question 60</vt:lpstr>
      <vt:lpstr>Question 60: Solution</vt:lpstr>
      <vt:lpstr>Question 61</vt:lpstr>
      <vt:lpstr>Question 61: Solution</vt:lpstr>
      <vt:lpstr>Question 62</vt:lpstr>
      <vt:lpstr>Question 62: Solution</vt:lpstr>
      <vt:lpstr>Question 62: Solution</vt:lpstr>
      <vt:lpstr>Question 62: Solution</vt:lpstr>
      <vt:lpstr>Question 63</vt:lpstr>
      <vt:lpstr>Question 63: Solution</vt:lpstr>
      <vt:lpstr>Question 63: Solution</vt:lpstr>
      <vt:lpstr>Question 63: Solution</vt:lpstr>
      <vt:lpstr>More on Wednesday…!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Shion Fukuzawa</dc:creator>
  <cp:lastModifiedBy>Shion Fukuzawa</cp:lastModifiedBy>
  <cp:revision>3</cp:revision>
  <dcterms:created xsi:type="dcterms:W3CDTF">2025-10-15T05:06:51Z</dcterms:created>
  <dcterms:modified xsi:type="dcterms:W3CDTF">2025-10-17T19:18:44Z</dcterms:modified>
</cp:coreProperties>
</file>